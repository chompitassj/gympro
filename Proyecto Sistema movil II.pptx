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0"/>
  </p:notesMasterIdLst>
  <p:sldIdLst>
    <p:sldId id="256" r:id="rId2"/>
    <p:sldId id="265" r:id="rId3"/>
    <p:sldId id="257" r:id="rId4"/>
    <p:sldId id="258" r:id="rId5"/>
    <p:sldId id="259" r:id="rId6"/>
    <p:sldId id="261" r:id="rId7"/>
    <p:sldId id="260" r:id="rId8"/>
    <p:sldId id="264" r:id="rId9"/>
  </p:sldIdLst>
  <p:sldSz cx="9144000" cy="5143500" type="screen16x9"/>
  <p:notesSz cx="6858000" cy="9144000"/>
  <p:embeddedFontLst>
    <p:embeddedFont>
      <p:font typeface="Crimson Text" panose="020B0604020202020204" charset="0"/>
      <p:regular r:id="rId11"/>
      <p:bold r:id="rId12"/>
      <p:italic r:id="rId13"/>
      <p:boldItalic r:id="rId14"/>
    </p:embeddedFont>
    <p:embeddedFont>
      <p:font typeface="Lato" panose="020B0604020202020204" charset="0"/>
      <p:regular r:id="rId15"/>
      <p:bold r:id="rId16"/>
      <p:italic r:id="rId17"/>
      <p:boldItalic r:id="rId18"/>
    </p:embeddedFont>
    <p:embeddedFont>
      <p:font typeface="Montserrat" panose="020B0604020202020204" charset="0"/>
      <p:regular r:id="rId19"/>
      <p:bold r:id="rId20"/>
      <p:italic r:id="rId21"/>
      <p:boldItalic r:id="rId22"/>
    </p:embeddedFont>
    <p:embeddedFont>
      <p:font typeface="Vidaloka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704">
          <p15:clr>
            <a:srgbClr val="9AA0A6"/>
          </p15:clr>
        </p15:guide>
        <p15:guide id="2" pos="4392">
          <p15:clr>
            <a:srgbClr val="9AA0A6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D29659-F493-4C9F-AF8A-1BDF306DDCBC}">
  <a:tblStyle styleId="{E8D29659-F493-4C9F-AF8A-1BDF306DDC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0" y="77"/>
      </p:cViewPr>
      <p:guideLst>
        <p:guide pos="3704"/>
        <p:guide pos="4392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859325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859325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903925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903925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859325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859325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903925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903975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798575" y="141791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4753975" y="1403976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798625" y="317677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4753975" y="316283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4" r:id="rId8"/>
    <p:sldLayoutId id="2147483665" r:id="rId9"/>
    <p:sldLayoutId id="2147483696" r:id="rId10"/>
    <p:sldLayoutId id="2147483697" r:id="rId11"/>
    <p:sldLayoutId id="2147483698" r:id="rId12"/>
    <p:sldLayoutId id="214748369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977175" y="312300"/>
            <a:ext cx="7189650" cy="19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6000" dirty="0"/>
              <a:t>Sistema de Gestión de Gimnasio GymPro</a:t>
            </a:r>
            <a:endParaRPr sz="6000"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433916" y="2138516"/>
            <a:ext cx="4939200" cy="2692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Clr>
                <a:schemeClr val="dk1"/>
              </a:buClr>
              <a:buSzPts val="1100"/>
            </a:pPr>
            <a:r>
              <a:rPr lang="es-PE" sz="1800" b="1" dirty="0"/>
              <a:t>CURSO:</a:t>
            </a:r>
            <a:r>
              <a:rPr lang="es-PE" sz="1800" dirty="0"/>
              <a:t> 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s-PE" sz="1800" dirty="0"/>
              <a:t>Desarrollo de Aplicaciones Móviles II</a:t>
            </a:r>
          </a:p>
          <a:p>
            <a:pPr marL="0" indent="0" algn="l">
              <a:buClr>
                <a:schemeClr val="dk1"/>
              </a:buClr>
              <a:buSzPts val="1100"/>
            </a:pPr>
            <a:endParaRPr lang="es-PE" sz="1800" dirty="0"/>
          </a:p>
          <a:p>
            <a:pPr marL="0" indent="0" algn="l">
              <a:buClr>
                <a:schemeClr val="dk1"/>
              </a:buClr>
              <a:buSzPts val="1100"/>
            </a:pPr>
            <a:r>
              <a:rPr lang="es-PE" sz="1800" b="1" dirty="0"/>
              <a:t>INTEGRANTES: 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s-PE" sz="1800" dirty="0"/>
              <a:t>Joseph Zelaya Jara </a:t>
            </a:r>
            <a:r>
              <a:rPr lang="es-PE" sz="1800" b="1" dirty="0"/>
              <a:t>I202318315</a:t>
            </a:r>
          </a:p>
          <a:p>
            <a:pPr marL="0" indent="0" algn="l">
              <a:buClr>
                <a:schemeClr val="dk1"/>
              </a:buClr>
              <a:buSzPts val="1100"/>
            </a:pPr>
            <a:endParaRPr lang="es-PE" sz="1800" b="1" dirty="0"/>
          </a:p>
          <a:p>
            <a:pPr marL="0" indent="0" algn="l">
              <a:buClr>
                <a:schemeClr val="dk1"/>
              </a:buClr>
              <a:buSzPts val="1100"/>
            </a:pPr>
            <a:r>
              <a:rPr lang="es-PE" sz="1800" b="1" dirty="0"/>
              <a:t>PROFESOR: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s-PE" sz="1800" dirty="0"/>
              <a:t>Alex Belleza Porras</a:t>
            </a:r>
          </a:p>
          <a:p>
            <a:pPr marL="0" indent="0">
              <a:buClr>
                <a:schemeClr val="dk1"/>
              </a:buClr>
              <a:buSzPts val="1100"/>
            </a:pPr>
            <a:r>
              <a:rPr lang="es-PE" sz="2800" b="1" dirty="0"/>
              <a:t>2026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PE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280246B-1AFC-46CD-9AC0-1BC1005AE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324" y="2337963"/>
            <a:ext cx="2293791" cy="22937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740450" y="318681"/>
            <a:ext cx="3169150" cy="962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ÍNDICE</a:t>
            </a:r>
            <a:endParaRPr sz="60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61250" y="1347218"/>
            <a:ext cx="7748350" cy="3267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2000" b="1" dirty="0"/>
              <a:t>1° 	Resumen</a:t>
            </a:r>
          </a:p>
          <a:p>
            <a:endParaRPr lang="es-MX" sz="2000" b="1" dirty="0"/>
          </a:p>
          <a:p>
            <a:r>
              <a:rPr lang="es-MX" sz="2000" b="1" dirty="0"/>
              <a:t>2° 	Introducción</a:t>
            </a:r>
          </a:p>
          <a:p>
            <a:endParaRPr lang="es-MX" sz="2000" b="1" dirty="0"/>
          </a:p>
          <a:p>
            <a:r>
              <a:rPr lang="es-MX" sz="2000" b="1" dirty="0"/>
              <a:t>3° 	Diagnóstico</a:t>
            </a:r>
          </a:p>
          <a:p>
            <a:endParaRPr lang="es-MX" sz="2000" b="1" dirty="0"/>
          </a:p>
          <a:p>
            <a:r>
              <a:rPr lang="es-MX" sz="2000" b="1" dirty="0"/>
              <a:t>4° Justificación</a:t>
            </a:r>
          </a:p>
          <a:p>
            <a:endParaRPr lang="es-MX" sz="2000" b="1" dirty="0"/>
          </a:p>
          <a:p>
            <a:r>
              <a:rPr lang="es-MX" sz="2000" b="1" dirty="0"/>
              <a:t>5° 	Objetivos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76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Resumen:</a:t>
            </a:r>
            <a:endParaRPr sz="36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25" y="1383410"/>
            <a:ext cx="7717500" cy="2788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SzPts val="1100"/>
              <a:buNone/>
            </a:pPr>
            <a:r>
              <a:rPr lang="es-MX" sz="1600" dirty="0"/>
              <a:t>GymPro es una aplicación móvil desarrollada para iOS que permite gestionar de manera eficiente las principales operaciones administrativas de un gimnasio, incluyendo el registro de miembros, control de pagos y consulta de ejercicios. Además, integra servicios externos para ofrecer información complementaria como ejercicios por grupo muscular y clima en tiempo real. La aplicación fue desarrollada en Swift utilizando Xcode, bajo el patrón de diseño MVC, con CoreData para almacenamiento local y consumo de APIs REST para ampliar sus funcionalidades. Su propósito principal es modernizar la gestión de gimnasios mediante una herramienta digital práctica, organizada y accesible.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48800" y="687326"/>
            <a:ext cx="2475840" cy="522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Introducci</a:t>
            </a:r>
            <a:r>
              <a:rPr lang="es-PE" dirty="0"/>
              <a:t>ó</a:t>
            </a:r>
            <a:r>
              <a:rPr lang="en" dirty="0"/>
              <a:t>n</a:t>
            </a:r>
            <a:endParaRPr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45B28BE-2BFA-4176-9FE0-D4ED58FFCA16}"/>
              </a:ext>
            </a:extLst>
          </p:cNvPr>
          <p:cNvSpPr/>
          <p:nvPr/>
        </p:nvSpPr>
        <p:spPr>
          <a:xfrm>
            <a:off x="727200" y="1209600"/>
            <a:ext cx="7668000" cy="32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DFAC3F-AF4A-47EC-B6A8-3AA98BE3F0D0}"/>
              </a:ext>
            </a:extLst>
          </p:cNvPr>
          <p:cNvSpPr txBox="1"/>
          <p:nvPr/>
        </p:nvSpPr>
        <p:spPr>
          <a:xfrm>
            <a:off x="738000" y="1687131"/>
            <a:ext cx="766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Montserrat" panose="020B0604020202020204" charset="0"/>
              </a:rPr>
              <a:t>En la actualidad, muchos gimnasios, especialmente los de pequeña y mediana escala, aún gestionan sus operaciones de forma manual o mediante herramientas poco eficientes, lo que genera problemas en el control de miembros, pagos y seguimiento de rutinas.</a:t>
            </a:r>
          </a:p>
          <a:p>
            <a:pPr algn="just"/>
            <a:r>
              <a:rPr lang="es-MX" dirty="0">
                <a:latin typeface="Montserrat" panose="020B0604020202020204" charset="0"/>
              </a:rPr>
              <a:t>Frente a esta problemática, GymPro surge como una solución móvil que permite centralizar y automatizar los procesos administrativos de un gimnasio, facilitando la gestión de clientes, pagos y rutinas de ejercicios desde un dispositivo móvil.</a:t>
            </a:r>
          </a:p>
          <a:p>
            <a:pPr algn="just"/>
            <a:r>
              <a:rPr lang="es-MX" dirty="0">
                <a:latin typeface="Montserrat" panose="020B0604020202020204" charset="0"/>
              </a:rPr>
              <a:t>El proyecto tiene como objetivo principal mejorar la eficiencia operativa del gimnasio mediante el uso de tecnologías móviles modernas, generando un impacto positivo en la organización, control y toma de decisiones.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>
            <a:spLocks noGrp="1"/>
          </p:cNvSpPr>
          <p:nvPr>
            <p:ph type="title"/>
          </p:nvPr>
        </p:nvSpPr>
        <p:spPr>
          <a:xfrm>
            <a:off x="800095" y="1231389"/>
            <a:ext cx="7543809" cy="9838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SzPts val="1100"/>
            </a:pPr>
            <a:r>
              <a:rPr lang="es-MX" sz="1400" b="1" dirty="0">
                <a:latin typeface="Montserrat" panose="020B0604020202020204" charset="0"/>
              </a:rPr>
              <a:t>Variable Social: </a:t>
            </a:r>
            <a:r>
              <a:rPr lang="es-MX" sz="1400" dirty="0">
                <a:latin typeface="Montserrat" panose="020B0604020202020204" charset="0"/>
              </a:rPr>
              <a:t>Existe un creciente interés por el cuidado de la salud y la actividad física, lo que ha incrementado la demanda de servicios en gimnasios. Sin embargo, muchos de estos negocios no cuentan con sistemas digitales adecuados para gestionar sus operaciones.</a:t>
            </a:r>
            <a:endParaRPr sz="1400" dirty="0">
              <a:latin typeface="Vidaloka" panose="020B0604020202020204" charset="0"/>
            </a:endParaRPr>
          </a:p>
        </p:txBody>
      </p:sp>
      <p:sp>
        <p:nvSpPr>
          <p:cNvPr id="517" name="Google Shape;517;p62"/>
          <p:cNvSpPr txBox="1">
            <a:spLocks noGrp="1"/>
          </p:cNvSpPr>
          <p:nvPr>
            <p:ph type="title" idx="3"/>
          </p:nvPr>
        </p:nvSpPr>
        <p:spPr>
          <a:xfrm>
            <a:off x="800095" y="2372040"/>
            <a:ext cx="7543810" cy="983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SzPts val="1100"/>
            </a:pPr>
            <a:r>
              <a:rPr lang="es-MX" sz="1400" b="1" dirty="0">
                <a:latin typeface="Montserrat" panose="020B0604020202020204" charset="0"/>
              </a:rPr>
              <a:t>Variable Económica: </a:t>
            </a:r>
            <a:r>
              <a:rPr lang="es-MX" sz="1400" dirty="0">
                <a:latin typeface="Montserrat" panose="020B0604020202020204" charset="0"/>
              </a:rPr>
              <a:t>La implementación de soluciones digitales permite a los gimnasios reducir errores administrativos, mejorar el control de ingresos y optimizar la gestión de membresías, incrementando su rentabilidad.</a:t>
            </a:r>
            <a:endParaRPr sz="1400" dirty="0">
              <a:latin typeface="Montserrat" panose="020B0604020202020204" charset="0"/>
            </a:endParaRPr>
          </a:p>
        </p:txBody>
      </p:sp>
      <p:sp>
        <p:nvSpPr>
          <p:cNvPr id="519" name="Google Shape;519;p62"/>
          <p:cNvSpPr txBox="1">
            <a:spLocks noGrp="1"/>
          </p:cNvSpPr>
          <p:nvPr>
            <p:ph type="title" idx="6"/>
          </p:nvPr>
        </p:nvSpPr>
        <p:spPr>
          <a:xfrm>
            <a:off x="800095" y="3512693"/>
            <a:ext cx="7543810" cy="913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SzPts val="1100"/>
            </a:pPr>
            <a:r>
              <a:rPr lang="es-MX" sz="1400" b="1" dirty="0">
                <a:latin typeface="Montserrat" panose="020B0604020202020204" charset="0"/>
              </a:rPr>
              <a:t>Variable Tecnológica: </a:t>
            </a:r>
            <a:r>
              <a:rPr lang="es-MX" sz="1400" dirty="0">
                <a:latin typeface="Montserrat" panose="020B0604020202020204" charset="0"/>
              </a:rPr>
              <a:t>El avance de las aplicaciones móviles y el acceso a </a:t>
            </a:r>
            <a:r>
              <a:rPr lang="es-MX" sz="1400" dirty="0" err="1">
                <a:latin typeface="Montserrat" panose="020B0604020202020204" charset="0"/>
              </a:rPr>
              <a:t>APIs</a:t>
            </a:r>
            <a:r>
              <a:rPr lang="es-MX" sz="1400" dirty="0">
                <a:latin typeface="Montserrat" panose="020B0604020202020204" charset="0"/>
              </a:rPr>
              <a:t> externas permiten integrar funcionalidades avanzadas como consultas de ejercicios y datos en tiempo real, mejorando la experiencia del usuario.</a:t>
            </a:r>
            <a:endParaRPr sz="1400" dirty="0">
              <a:latin typeface="Montserrat" panose="020B0604020202020204" charset="0"/>
            </a:endParaRPr>
          </a:p>
        </p:txBody>
      </p:sp>
      <p:sp>
        <p:nvSpPr>
          <p:cNvPr id="529" name="Google Shape;529;p62"/>
          <p:cNvSpPr txBox="1">
            <a:spLocks noGrp="1"/>
          </p:cNvSpPr>
          <p:nvPr>
            <p:ph type="title" idx="21"/>
          </p:nvPr>
        </p:nvSpPr>
        <p:spPr>
          <a:xfrm>
            <a:off x="2021503" y="431117"/>
            <a:ext cx="51009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Diagnóstico – Analisis SEPTE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3471825" y="524452"/>
            <a:ext cx="220035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dirty="0"/>
              <a:t>OBJETIVOS</a:t>
            </a:r>
            <a:br>
              <a:rPr lang="es-PE" dirty="0"/>
            </a:br>
            <a:endParaRPr dirty="0"/>
          </a:p>
        </p:txBody>
      </p:sp>
      <p:sp>
        <p:nvSpPr>
          <p:cNvPr id="541" name="Google Shape;541;p64"/>
          <p:cNvSpPr txBox="1">
            <a:spLocks noGrp="1"/>
          </p:cNvSpPr>
          <p:nvPr>
            <p:ph type="subTitle" idx="1"/>
          </p:nvPr>
        </p:nvSpPr>
        <p:spPr>
          <a:xfrm>
            <a:off x="602474" y="1804051"/>
            <a:ext cx="7828726" cy="764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s-MX" sz="1400" dirty="0"/>
              <a:t>Desarrollar en un periodo de 8 semanas una aplicación móvil en iOS que permita gestionar miembros, registrar pagos y consultar ejercicios mediante </a:t>
            </a:r>
            <a:r>
              <a:rPr lang="es-MX" sz="1400" dirty="0" err="1"/>
              <a:t>APIs</a:t>
            </a:r>
            <a:r>
              <a:rPr lang="es-MX" sz="1400" dirty="0"/>
              <a:t> externas.</a:t>
            </a:r>
            <a:endParaRPr sz="1400" dirty="0"/>
          </a:p>
        </p:txBody>
      </p:sp>
      <p:grpSp>
        <p:nvGrpSpPr>
          <p:cNvPr id="4" name="Google Shape;2199;p135">
            <a:extLst>
              <a:ext uri="{FF2B5EF4-FFF2-40B4-BE49-F238E27FC236}">
                <a16:creationId xmlns:a16="http://schemas.microsoft.com/office/drawing/2014/main" id="{271B74FD-F773-4D9D-A800-946E7C25F72D}"/>
              </a:ext>
            </a:extLst>
          </p:cNvPr>
          <p:cNvGrpSpPr/>
          <p:nvPr/>
        </p:nvGrpSpPr>
        <p:grpSpPr>
          <a:xfrm>
            <a:off x="602474" y="1301563"/>
            <a:ext cx="2817526" cy="287994"/>
            <a:chOff x="6336018" y="3733725"/>
            <a:chExt cx="2566207" cy="351300"/>
          </a:xfrm>
        </p:grpSpPr>
        <p:sp>
          <p:nvSpPr>
            <p:cNvPr id="5" name="Google Shape;2200;p135">
              <a:extLst>
                <a:ext uri="{FF2B5EF4-FFF2-40B4-BE49-F238E27FC236}">
                  <a16:creationId xmlns:a16="http://schemas.microsoft.com/office/drawing/2014/main" id="{2ABA7D9E-1461-4D86-A155-F06BA171077D}"/>
                </a:ext>
              </a:extLst>
            </p:cNvPr>
            <p:cNvSpPr/>
            <p:nvPr/>
          </p:nvSpPr>
          <p:spPr>
            <a:xfrm>
              <a:off x="6336018" y="373372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s-PE" sz="1200" dirty="0">
                <a:latin typeface="Montserrat" panose="020B0604020202020204" charset="0"/>
              </a:endParaRPr>
            </a:p>
            <a:p>
              <a:pPr algn="ctr"/>
              <a:r>
                <a:rPr lang="es-PE" sz="1200" dirty="0">
                  <a:latin typeface="Montserrat" panose="020B0604020202020204" charset="0"/>
                </a:rPr>
                <a:t>OBJ 1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ontserrat" panose="020B0604020202020204" charset="0"/>
              </a:endParaRPr>
            </a:p>
          </p:txBody>
        </p:sp>
        <p:sp>
          <p:nvSpPr>
            <p:cNvPr id="6" name="Google Shape;2201;p135">
              <a:extLst>
                <a:ext uri="{FF2B5EF4-FFF2-40B4-BE49-F238E27FC236}">
                  <a16:creationId xmlns:a16="http://schemas.microsoft.com/office/drawing/2014/main" id="{773545B8-2269-450F-AEFE-17B834E9CADB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02;p135">
              <a:extLst>
                <a:ext uri="{FF2B5EF4-FFF2-40B4-BE49-F238E27FC236}">
                  <a16:creationId xmlns:a16="http://schemas.microsoft.com/office/drawing/2014/main" id="{AC9378CA-2277-45D4-88AC-BDDB2EBBB5E5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03;p135">
              <a:extLst>
                <a:ext uri="{FF2B5EF4-FFF2-40B4-BE49-F238E27FC236}">
                  <a16:creationId xmlns:a16="http://schemas.microsoft.com/office/drawing/2014/main" id="{C66DC683-EEEC-4753-8145-37BDEBC6FD2E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2199;p135">
            <a:extLst>
              <a:ext uri="{FF2B5EF4-FFF2-40B4-BE49-F238E27FC236}">
                <a16:creationId xmlns:a16="http://schemas.microsoft.com/office/drawing/2014/main" id="{1D4CCEC1-AA11-4C6B-9A78-4436FC714C2B}"/>
              </a:ext>
            </a:extLst>
          </p:cNvPr>
          <p:cNvGrpSpPr/>
          <p:nvPr/>
        </p:nvGrpSpPr>
        <p:grpSpPr>
          <a:xfrm>
            <a:off x="602474" y="3029611"/>
            <a:ext cx="2817526" cy="287994"/>
            <a:chOff x="6336018" y="3733725"/>
            <a:chExt cx="2566207" cy="351300"/>
          </a:xfrm>
        </p:grpSpPr>
        <p:sp>
          <p:nvSpPr>
            <p:cNvPr id="10" name="Google Shape;2200;p135">
              <a:extLst>
                <a:ext uri="{FF2B5EF4-FFF2-40B4-BE49-F238E27FC236}">
                  <a16:creationId xmlns:a16="http://schemas.microsoft.com/office/drawing/2014/main" id="{B122D5BF-0D4D-4057-B9C6-F497FFCC332B}"/>
                </a:ext>
              </a:extLst>
            </p:cNvPr>
            <p:cNvSpPr/>
            <p:nvPr/>
          </p:nvSpPr>
          <p:spPr>
            <a:xfrm>
              <a:off x="6336018" y="373372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s-PE" sz="1200" dirty="0">
                <a:latin typeface="Montserrat" panose="020B0604020202020204" charset="0"/>
              </a:endParaRPr>
            </a:p>
            <a:p>
              <a:pPr algn="ctr"/>
              <a:endParaRPr lang="es-PE" dirty="0">
                <a:latin typeface="Montserrat" panose="020B0604020202020204" charset="0"/>
              </a:endParaRPr>
            </a:p>
            <a:p>
              <a:pPr algn="ctr"/>
              <a:r>
                <a:rPr lang="es-PE" dirty="0">
                  <a:latin typeface="Montserrat" panose="020B0604020202020204" charset="0"/>
                </a:rPr>
                <a:t>OBJ 2</a:t>
              </a:r>
            </a:p>
            <a:p>
              <a:pPr algn="ctr"/>
              <a:endParaRPr lang="es-PE" sz="1200" b="1" dirty="0">
                <a:latin typeface="Montserrat" panose="020B0604020202020204" charset="0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ontserrat" panose="020B0604020202020204" charset="0"/>
              </a:endParaRPr>
            </a:p>
          </p:txBody>
        </p:sp>
        <p:sp>
          <p:nvSpPr>
            <p:cNvPr id="11" name="Google Shape;2201;p135">
              <a:extLst>
                <a:ext uri="{FF2B5EF4-FFF2-40B4-BE49-F238E27FC236}">
                  <a16:creationId xmlns:a16="http://schemas.microsoft.com/office/drawing/2014/main" id="{370C9486-EFB8-40B0-8D5C-8FDA729A454B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02;p135">
              <a:extLst>
                <a:ext uri="{FF2B5EF4-FFF2-40B4-BE49-F238E27FC236}">
                  <a16:creationId xmlns:a16="http://schemas.microsoft.com/office/drawing/2014/main" id="{38B68DDD-2F74-4EB4-80BA-5F5B90E5EC6E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203;p135">
              <a:extLst>
                <a:ext uri="{FF2B5EF4-FFF2-40B4-BE49-F238E27FC236}">
                  <a16:creationId xmlns:a16="http://schemas.microsoft.com/office/drawing/2014/main" id="{DA96E78B-7B4A-4D7F-AC2F-3221ADD6FEA7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4BE645A-A29C-4D6A-B446-1E92A283BEBD}"/>
              </a:ext>
            </a:extLst>
          </p:cNvPr>
          <p:cNvSpPr/>
          <p:nvPr/>
        </p:nvSpPr>
        <p:spPr>
          <a:xfrm>
            <a:off x="602474" y="2460147"/>
            <a:ext cx="7828726" cy="1968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PE" dirty="0"/>
              <a:t>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0DD5CE9-B5E3-49C2-8202-A8F5C9F00DF4}"/>
              </a:ext>
            </a:extLst>
          </p:cNvPr>
          <p:cNvSpPr/>
          <p:nvPr/>
        </p:nvSpPr>
        <p:spPr>
          <a:xfrm>
            <a:off x="602474" y="3604369"/>
            <a:ext cx="7828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20B0604020202020204" charset="0"/>
              </a:rPr>
              <a:t>Implementar funcionalidades de almacenamiento local utilizando </a:t>
            </a:r>
            <a:r>
              <a:rPr lang="es-MX" dirty="0" err="1">
                <a:latin typeface="Montserrat" panose="020B0604020202020204" charset="0"/>
              </a:rPr>
              <a:t>CoreData</a:t>
            </a:r>
            <a:r>
              <a:rPr lang="es-MX" dirty="0">
                <a:latin typeface="Montserrat" panose="020B0604020202020204" charset="0"/>
              </a:rPr>
              <a:t> para garantizar la persistencia de datos y mejorar el rendimiento de la aplicación.</a:t>
            </a:r>
            <a:endParaRPr lang="es-PE" dirty="0">
              <a:latin typeface="Montserrat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>
            <a:spLocks noGrp="1"/>
          </p:cNvSpPr>
          <p:nvPr>
            <p:ph type="title"/>
          </p:nvPr>
        </p:nvSpPr>
        <p:spPr>
          <a:xfrm>
            <a:off x="1705742" y="337686"/>
            <a:ext cx="5732516" cy="662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>
                <a:latin typeface="Vidaloka" panose="020B0604020202020204" charset="0"/>
              </a:rPr>
              <a:t>J</a:t>
            </a:r>
            <a:r>
              <a:rPr lang="es-PE" dirty="0">
                <a:latin typeface="Vidaloka" panose="020B0604020202020204" charset="0"/>
              </a:rPr>
              <a:t>USTIFICACION DEL PROYECTO</a:t>
            </a:r>
            <a:endParaRPr dirty="0">
              <a:latin typeface="Vidaloka" panose="020B0604020202020204" charset="0"/>
            </a:endParaRPr>
          </a:p>
        </p:txBody>
      </p:sp>
      <p:sp>
        <p:nvSpPr>
          <p:cNvPr id="535" name="Google Shape;535;p63"/>
          <p:cNvSpPr txBox="1">
            <a:spLocks noGrp="1"/>
          </p:cNvSpPr>
          <p:nvPr>
            <p:ph type="subTitle" idx="1"/>
          </p:nvPr>
        </p:nvSpPr>
        <p:spPr>
          <a:xfrm>
            <a:off x="2839853" y="1973179"/>
            <a:ext cx="2635836" cy="2684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s-MX" sz="1600" dirty="0">
                <a:solidFill>
                  <a:schemeClr val="tx1"/>
                </a:solidFill>
              </a:rPr>
              <a:t>1° Administradores de                gimnasios</a:t>
            </a:r>
          </a:p>
          <a:p>
            <a:pPr marL="0" lvl="0" indent="0" algn="l">
              <a:spcAft>
                <a:spcPts val="1200"/>
              </a:spcAft>
            </a:pPr>
            <a:endParaRPr lang="es-MX" sz="16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s-MX" sz="1600" dirty="0">
                <a:solidFill>
                  <a:schemeClr val="tx1"/>
                </a:solidFill>
              </a:rPr>
              <a:t>2° Entrenadores / Trainers</a:t>
            </a:r>
          </a:p>
          <a:p>
            <a:pPr marL="0" lvl="0" indent="0" algn="just">
              <a:spcAft>
                <a:spcPts val="1200"/>
              </a:spcAft>
            </a:pPr>
            <a:endParaRPr lang="es-MX" sz="16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s-MX" sz="1600" dirty="0">
                <a:solidFill>
                  <a:schemeClr val="tx1"/>
                </a:solidFill>
              </a:rPr>
              <a:t>3° Usuarios del gimnasio</a:t>
            </a:r>
            <a:endParaRPr sz="1600" dirty="0">
              <a:solidFill>
                <a:schemeClr val="tx1"/>
              </a:solidFill>
            </a:endParaRPr>
          </a:p>
        </p:txBody>
      </p:sp>
      <p:grpSp>
        <p:nvGrpSpPr>
          <p:cNvPr id="4" name="Google Shape;2199;p135">
            <a:extLst>
              <a:ext uri="{FF2B5EF4-FFF2-40B4-BE49-F238E27FC236}">
                <a16:creationId xmlns:a16="http://schemas.microsoft.com/office/drawing/2014/main" id="{7B1DEF63-1199-40FD-8BD9-2732E1823BCD}"/>
              </a:ext>
            </a:extLst>
          </p:cNvPr>
          <p:cNvGrpSpPr/>
          <p:nvPr/>
        </p:nvGrpSpPr>
        <p:grpSpPr>
          <a:xfrm>
            <a:off x="2748715" y="1605635"/>
            <a:ext cx="2726974" cy="289663"/>
            <a:chOff x="6335125" y="3607994"/>
            <a:chExt cx="2567101" cy="353337"/>
          </a:xfrm>
        </p:grpSpPr>
        <p:sp>
          <p:nvSpPr>
            <p:cNvPr id="5" name="Google Shape;2200;p135">
              <a:extLst>
                <a:ext uri="{FF2B5EF4-FFF2-40B4-BE49-F238E27FC236}">
                  <a16:creationId xmlns:a16="http://schemas.microsoft.com/office/drawing/2014/main" id="{6106044A-CA7C-44C0-9F0D-28E116D4CDA4}"/>
                </a:ext>
              </a:extLst>
            </p:cNvPr>
            <p:cNvSpPr/>
            <p:nvPr/>
          </p:nvSpPr>
          <p:spPr>
            <a:xfrm>
              <a:off x="6335125" y="3607997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latin typeface="Montserrat" panose="020B0604020202020204" charset="0"/>
                </a:rPr>
                <a:t>Beneficios Directos</a:t>
              </a:r>
              <a:endParaRPr dirty="0">
                <a:latin typeface="Montserrat" panose="020B0604020202020204" charset="0"/>
              </a:endParaRPr>
            </a:p>
          </p:txBody>
        </p:sp>
        <p:sp>
          <p:nvSpPr>
            <p:cNvPr id="6" name="Google Shape;2201;p135">
              <a:extLst>
                <a:ext uri="{FF2B5EF4-FFF2-40B4-BE49-F238E27FC236}">
                  <a16:creationId xmlns:a16="http://schemas.microsoft.com/office/drawing/2014/main" id="{A406C793-26D0-4D4D-8E12-9691BE24D649}"/>
                </a:ext>
              </a:extLst>
            </p:cNvPr>
            <p:cNvSpPr/>
            <p:nvPr/>
          </p:nvSpPr>
          <p:spPr>
            <a:xfrm>
              <a:off x="8097577" y="3607994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02;p135">
              <a:extLst>
                <a:ext uri="{FF2B5EF4-FFF2-40B4-BE49-F238E27FC236}">
                  <a16:creationId xmlns:a16="http://schemas.microsoft.com/office/drawing/2014/main" id="{4AC8A8A4-B188-4CA2-B3FC-A510AE3CE7D9}"/>
                </a:ext>
              </a:extLst>
            </p:cNvPr>
            <p:cNvSpPr/>
            <p:nvPr/>
          </p:nvSpPr>
          <p:spPr>
            <a:xfrm>
              <a:off x="8338314" y="3610031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2203;p135">
              <a:extLst>
                <a:ext uri="{FF2B5EF4-FFF2-40B4-BE49-F238E27FC236}">
                  <a16:creationId xmlns:a16="http://schemas.microsoft.com/office/drawing/2014/main" id="{24EA6BC5-284E-489B-838E-EFD0D348F18B}"/>
                </a:ext>
              </a:extLst>
            </p:cNvPr>
            <p:cNvSpPr/>
            <p:nvPr/>
          </p:nvSpPr>
          <p:spPr>
            <a:xfrm>
              <a:off x="8555726" y="3607994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2199;p135">
            <a:extLst>
              <a:ext uri="{FF2B5EF4-FFF2-40B4-BE49-F238E27FC236}">
                <a16:creationId xmlns:a16="http://schemas.microsoft.com/office/drawing/2014/main" id="{8B8D96D0-2869-442A-9995-3E81CDF1806A}"/>
              </a:ext>
            </a:extLst>
          </p:cNvPr>
          <p:cNvGrpSpPr/>
          <p:nvPr/>
        </p:nvGrpSpPr>
        <p:grpSpPr>
          <a:xfrm>
            <a:off x="5941732" y="1605234"/>
            <a:ext cx="2993052" cy="288806"/>
            <a:chOff x="6398127" y="4784610"/>
            <a:chExt cx="2652769" cy="352292"/>
          </a:xfrm>
        </p:grpSpPr>
        <p:sp>
          <p:nvSpPr>
            <p:cNvPr id="10" name="Google Shape;2200;p135">
              <a:extLst>
                <a:ext uri="{FF2B5EF4-FFF2-40B4-BE49-F238E27FC236}">
                  <a16:creationId xmlns:a16="http://schemas.microsoft.com/office/drawing/2014/main" id="{675AB944-DA0C-4F49-9F52-7A2657D91B75}"/>
                </a:ext>
              </a:extLst>
            </p:cNvPr>
            <p:cNvSpPr/>
            <p:nvPr/>
          </p:nvSpPr>
          <p:spPr>
            <a:xfrm>
              <a:off x="6398127" y="4784612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latin typeface="Montserrat" panose="020B0604020202020204" charset="0"/>
                </a:rPr>
                <a:t>Beneficios Indirectos</a:t>
              </a:r>
              <a:endParaRPr dirty="0">
                <a:latin typeface="Montserrat" panose="020B0604020202020204" charset="0"/>
              </a:endParaRPr>
            </a:p>
          </p:txBody>
        </p:sp>
        <p:sp>
          <p:nvSpPr>
            <p:cNvPr id="11" name="Google Shape;2201;p135">
              <a:extLst>
                <a:ext uri="{FF2B5EF4-FFF2-40B4-BE49-F238E27FC236}">
                  <a16:creationId xmlns:a16="http://schemas.microsoft.com/office/drawing/2014/main" id="{6FC51A9A-2AEB-4124-BD89-2F0F062F6D33}"/>
                </a:ext>
              </a:extLst>
            </p:cNvPr>
            <p:cNvSpPr/>
            <p:nvPr/>
          </p:nvSpPr>
          <p:spPr>
            <a:xfrm>
              <a:off x="8211851" y="4785602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02;p135">
              <a:extLst>
                <a:ext uri="{FF2B5EF4-FFF2-40B4-BE49-F238E27FC236}">
                  <a16:creationId xmlns:a16="http://schemas.microsoft.com/office/drawing/2014/main" id="{3BC07C58-B2A4-4498-A190-6600DB457811}"/>
                </a:ext>
              </a:extLst>
            </p:cNvPr>
            <p:cNvSpPr/>
            <p:nvPr/>
          </p:nvSpPr>
          <p:spPr>
            <a:xfrm>
              <a:off x="8458124" y="4784611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203;p135">
              <a:extLst>
                <a:ext uri="{FF2B5EF4-FFF2-40B4-BE49-F238E27FC236}">
                  <a16:creationId xmlns:a16="http://schemas.microsoft.com/office/drawing/2014/main" id="{27BD990E-305E-45AB-8B6B-403621C19773}"/>
                </a:ext>
              </a:extLst>
            </p:cNvPr>
            <p:cNvSpPr/>
            <p:nvPr/>
          </p:nvSpPr>
          <p:spPr>
            <a:xfrm>
              <a:off x="8704396" y="4784610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514B05-A51A-4A5C-94D8-478571A6F17E}"/>
              </a:ext>
            </a:extLst>
          </p:cNvPr>
          <p:cNvSpPr txBox="1"/>
          <p:nvPr/>
        </p:nvSpPr>
        <p:spPr>
          <a:xfrm>
            <a:off x="544870" y="959204"/>
            <a:ext cx="7884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Montserrat" panose="020B0604020202020204" charset="0"/>
              </a:rPr>
              <a:t>El proyecto GymPro se justifica en la necesidad de modernizar la gestión de gimnasios mediante herramientas digitales accesibles, eficientes y fáciles de usar.</a:t>
            </a:r>
            <a:endParaRPr lang="es-PE" dirty="0">
              <a:latin typeface="Montserrat" panose="020B060402020202020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760295D-0D02-4454-B916-BB5F9DD00B82}"/>
              </a:ext>
            </a:extLst>
          </p:cNvPr>
          <p:cNvSpPr txBox="1"/>
          <p:nvPr/>
        </p:nvSpPr>
        <p:spPr>
          <a:xfrm>
            <a:off x="6002594" y="2038319"/>
            <a:ext cx="29321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Montserrat" panose="020B0604020202020204" charset="0"/>
              </a:rPr>
              <a:t>1° Comunidad fitness</a:t>
            </a:r>
          </a:p>
          <a:p>
            <a:endParaRPr lang="es-MX" sz="1600" dirty="0">
              <a:latin typeface="Montserrat" panose="020B0604020202020204" charset="0"/>
            </a:endParaRPr>
          </a:p>
          <a:p>
            <a:endParaRPr lang="es-MX" sz="1600" dirty="0">
              <a:latin typeface="Montserrat" panose="020B0604020202020204" charset="0"/>
            </a:endParaRPr>
          </a:p>
          <a:p>
            <a:endParaRPr lang="es-MX" sz="1600" dirty="0">
              <a:latin typeface="Montserrat" panose="020B0604020202020204" charset="0"/>
            </a:endParaRPr>
          </a:p>
          <a:p>
            <a:r>
              <a:rPr lang="es-MX" sz="1600" dirty="0">
                <a:latin typeface="Montserrat" panose="020B0604020202020204" charset="0"/>
              </a:rPr>
              <a:t>2° Nuevos emprendedores del sector</a:t>
            </a:r>
          </a:p>
          <a:p>
            <a:endParaRPr lang="es-MX" sz="1600" dirty="0">
              <a:latin typeface="Montserrat" panose="020B0604020202020204" charset="0"/>
            </a:endParaRPr>
          </a:p>
          <a:p>
            <a:endParaRPr lang="es-MX" sz="1600" dirty="0">
              <a:latin typeface="Montserrat" panose="020B0604020202020204" charset="0"/>
            </a:endParaRPr>
          </a:p>
          <a:p>
            <a:r>
              <a:rPr lang="es-MX" sz="1600" dirty="0">
                <a:latin typeface="Montserrat" panose="020B0604020202020204" charset="0"/>
              </a:rPr>
              <a:t>3° Industria del deporte y salud</a:t>
            </a:r>
            <a:endParaRPr lang="es-PE" sz="1600" dirty="0">
              <a:latin typeface="Montserrat" panose="020B0604020202020204" charset="0"/>
            </a:endParaRPr>
          </a:p>
        </p:txBody>
      </p:sp>
      <p:grpSp>
        <p:nvGrpSpPr>
          <p:cNvPr id="16" name="Google Shape;2199;p135">
            <a:extLst>
              <a:ext uri="{FF2B5EF4-FFF2-40B4-BE49-F238E27FC236}">
                <a16:creationId xmlns:a16="http://schemas.microsoft.com/office/drawing/2014/main" id="{EB27CEDF-4D32-4134-8BF4-68A9612C7984}"/>
              </a:ext>
            </a:extLst>
          </p:cNvPr>
          <p:cNvGrpSpPr/>
          <p:nvPr/>
        </p:nvGrpSpPr>
        <p:grpSpPr>
          <a:xfrm>
            <a:off x="93970" y="1605637"/>
            <a:ext cx="2453126" cy="288001"/>
            <a:chOff x="6336019" y="3733725"/>
            <a:chExt cx="2566206" cy="351310"/>
          </a:xfrm>
        </p:grpSpPr>
        <p:sp>
          <p:nvSpPr>
            <p:cNvPr id="17" name="Google Shape;2200;p135">
              <a:extLst>
                <a:ext uri="{FF2B5EF4-FFF2-40B4-BE49-F238E27FC236}">
                  <a16:creationId xmlns:a16="http://schemas.microsoft.com/office/drawing/2014/main" id="{7F89A07F-6B76-4120-B1A8-E73EF73D5D5D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latin typeface="Montserrat" panose="020B0604020202020204" charset="0"/>
                </a:rPr>
                <a:t>Aporte</a:t>
              </a:r>
              <a:endParaRPr dirty="0">
                <a:latin typeface="Montserrat" panose="020B0604020202020204" charset="0"/>
              </a:endParaRPr>
            </a:p>
          </p:txBody>
        </p:sp>
        <p:sp>
          <p:nvSpPr>
            <p:cNvPr id="18" name="Google Shape;2201;p135">
              <a:extLst>
                <a:ext uri="{FF2B5EF4-FFF2-40B4-BE49-F238E27FC236}">
                  <a16:creationId xmlns:a16="http://schemas.microsoft.com/office/drawing/2014/main" id="{79461D0B-51A3-48A7-980A-ABA5CE77D617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02;p135">
              <a:extLst>
                <a:ext uri="{FF2B5EF4-FFF2-40B4-BE49-F238E27FC236}">
                  <a16:creationId xmlns:a16="http://schemas.microsoft.com/office/drawing/2014/main" id="{E35BE13D-56FD-4239-A3F9-F222CB8D278C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03;p135">
              <a:extLst>
                <a:ext uri="{FF2B5EF4-FFF2-40B4-BE49-F238E27FC236}">
                  <a16:creationId xmlns:a16="http://schemas.microsoft.com/office/drawing/2014/main" id="{F933462D-809F-4B32-B6D9-E6E13AD76C8B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D12036C4-4B08-418A-A695-EF72E1DA4CC9}"/>
              </a:ext>
            </a:extLst>
          </p:cNvPr>
          <p:cNvSpPr txBox="1"/>
          <p:nvPr/>
        </p:nvSpPr>
        <p:spPr>
          <a:xfrm>
            <a:off x="93970" y="1951710"/>
            <a:ext cx="258286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Montserrat" panose="020B0604020202020204" charset="0"/>
              </a:rPr>
              <a:t>Mejora la administración de clientes</a:t>
            </a:r>
          </a:p>
          <a:p>
            <a:endParaRPr lang="es-MX" dirty="0">
              <a:latin typeface="Montserrat" panose="020B0604020202020204" charset="0"/>
            </a:endParaRPr>
          </a:p>
          <a:p>
            <a:r>
              <a:rPr lang="es-MX" dirty="0">
                <a:latin typeface="Montserrat" panose="020B0604020202020204" charset="0"/>
              </a:rPr>
              <a:t>Optimiza el control de pagos</a:t>
            </a:r>
          </a:p>
          <a:p>
            <a:endParaRPr lang="es-MX" dirty="0">
              <a:latin typeface="Montserrat" panose="020B0604020202020204" charset="0"/>
            </a:endParaRPr>
          </a:p>
          <a:p>
            <a:r>
              <a:rPr lang="es-MX" dirty="0">
                <a:latin typeface="Montserrat" panose="020B0604020202020204" charset="0"/>
              </a:rPr>
              <a:t>Facilita el acceso a rutinas de ejercicios</a:t>
            </a:r>
          </a:p>
          <a:p>
            <a:endParaRPr lang="es-MX" dirty="0">
              <a:latin typeface="Montserrat" panose="020B0604020202020204" charset="0"/>
            </a:endParaRPr>
          </a:p>
          <a:p>
            <a:endParaRPr lang="es-MX" dirty="0">
              <a:latin typeface="Montserrat" panose="020B0604020202020204" charset="0"/>
            </a:endParaRPr>
          </a:p>
          <a:p>
            <a:r>
              <a:rPr lang="es-MX" dirty="0">
                <a:latin typeface="Montserrat" panose="020B0604020202020204" charset="0"/>
              </a:rPr>
              <a:t>Integra información útil como el clima en tiempo real</a:t>
            </a:r>
            <a:endParaRPr lang="es-PE" dirty="0">
              <a:latin typeface="Montserrat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title"/>
          </p:nvPr>
        </p:nvSpPr>
        <p:spPr>
          <a:xfrm>
            <a:off x="1850625" y="1684425"/>
            <a:ext cx="544275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GRACIAS!!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F1E2"/>
      </a:lt1>
      <a:dk2>
        <a:srgbClr val="000000"/>
      </a:dk2>
      <a:lt2>
        <a:srgbClr val="E3F1E2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521</Words>
  <Application>Microsoft Office PowerPoint</Application>
  <PresentationFormat>Presentación en pantalla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Montserrat</vt:lpstr>
      <vt:lpstr>Vidaloka</vt:lpstr>
      <vt:lpstr>Arial</vt:lpstr>
      <vt:lpstr>Lato</vt:lpstr>
      <vt:lpstr>Crimson Text</vt:lpstr>
      <vt:lpstr>Minimalist Business Slides XL by Slidesgo</vt:lpstr>
      <vt:lpstr>Sistema de Gestión de Gimnasio GymPro</vt:lpstr>
      <vt:lpstr>ÍNDICE</vt:lpstr>
      <vt:lpstr>Resumen:</vt:lpstr>
      <vt:lpstr>Introducción</vt:lpstr>
      <vt:lpstr>Variable Social: Existe un creciente interés por el cuidado de la salud y la actividad física, lo que ha incrementado la demanda de servicios en gimnasios. Sin embargo, muchos de estos negocios no cuentan con sistemas digitales adecuados para gestionar sus operaciones.</vt:lpstr>
      <vt:lpstr>OBJETIVOS </vt:lpstr>
      <vt:lpstr>JUSTIFICACION DEL PROYECTO</vt:lpstr>
      <vt:lpstr>GRACIAS!!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Transporte</dc:title>
  <dc:creator>HP</dc:creator>
  <cp:lastModifiedBy>I202318315 (Zelaya Jara,Joseph Jair)</cp:lastModifiedBy>
  <cp:revision>32</cp:revision>
  <dcterms:modified xsi:type="dcterms:W3CDTF">2026-04-29T11:22:21Z</dcterms:modified>
</cp:coreProperties>
</file>